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377440"/>
          </a:xfrm>
          <a:prstGeom prst="rect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5D4F4"/>
                </a:solidFill>
              </a:rPr>
              <a:t>AllianzGI Global MA Blend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5B7EB"/>
                </a:solidFill>
              </a:rPr>
              <a:t>Growth · Global · Multi-Asset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201168"/>
            <a:ext cx="2286000" cy="32004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201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B5D4F4"/>
                </a:solidFill>
              </a:rPr>
              <a:t>Composite score: 73 / 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743200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5B7EB"/>
                </a:solidFill>
              </a:rPr>
              <a:t>1Y 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25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D9E75"/>
                </a:solidFill>
              </a:rPr>
              <a:t>18.39%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005840"/>
            <a:ext cx="2743200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078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5B7EB"/>
                </a:solidFill>
              </a:rPr>
              <a:t>SHARPE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325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D9E75"/>
                </a:solidFill>
              </a:rPr>
              <a:t>1.29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005840"/>
            <a:ext cx="2743200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078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5B7EB"/>
                </a:solidFill>
              </a:rPr>
              <a:t>MAX DRAWDOWN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325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BA7517"/>
                </a:solidFill>
              </a:rPr>
              <a:t>-10.11%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1005840"/>
            <a:ext cx="2743200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078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5B7EB"/>
                </a:solidFill>
              </a:rPr>
              <a:t>ESG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325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B5D4F4"/>
                </a:solidFill>
              </a:rPr>
              <a:t>68 /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56032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KEY HIGHLIGHTS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926079"/>
            <a:ext cx="64008" cy="6400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2834639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Strong 1Y return of 18.39% reflects equity-led positioning, outperforming a typical 60/40 benchmark.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73551"/>
            <a:ext cx="64008" cy="6400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3182111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Equity overweight (70%) has been the primary return driver, benefiting from global market recovery.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621023"/>
            <a:ext cx="64008" cy="6400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3529583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10% alternatives sleeve provides tail-risk mitigation and low-correlation diversification.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968496"/>
            <a:ext cx="64008" cy="6400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3877056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ESG score of 68 reflects integration of sustainability factors, above median for growth-oriented peers.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4361688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INVESTMENT RATIONALE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4636007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</a:rPr>
              <a:t>The fund targets long-term capital growth via dynamic allocation across global equities, investment-grade bonds, and liquid alternatives. Its growth tilt suits investors with a 5+ year horizon. The current macro backdrop — resilient global growth and AI-driven earnings expansion — favours the fund's 70% equity positioning, while the 20% bond sleeve acts as a duration buffer.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56032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RISK PROFILE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2834639"/>
            <a:ext cx="2011680" cy="50292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19" y="2871215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5E5A"/>
                </a:solidFill>
              </a:rPr>
              <a:t>VOLATILITY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19" y="30540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A7517"/>
                </a:solidFill>
              </a:rPr>
              <a:t>Moderate-high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19" y="2834639"/>
            <a:ext cx="2011680" cy="50292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59" y="2871215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5E5A"/>
                </a:solidFill>
              </a:rPr>
              <a:t>MAX DRAWDOWN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59" y="30540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24B4A"/>
                </a:solidFill>
              </a:rPr>
              <a:t>-10.11%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9" y="3428999"/>
            <a:ext cx="2011680" cy="50292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19" y="3465575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5E5A"/>
                </a:solidFill>
              </a:rPr>
              <a:t>SHARPE RATIO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19" y="364845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A7517"/>
                </a:solidFill>
              </a:rPr>
              <a:t>1.29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46919" y="3428999"/>
            <a:ext cx="2011680" cy="50292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38359" y="3465575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5E5A"/>
                </a:solidFill>
              </a:rPr>
              <a:t>SORTINO EST.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38359" y="364845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</a:rPr>
              <a:t>1.54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4069079"/>
            <a:ext cx="4389120" cy="4572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19" y="4105655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A7517"/>
                </a:solidFill>
              </a:rPr>
              <a:t>Risk note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19" y="4270247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33806"/>
                </a:solidFill>
              </a:rPr>
              <a:t>Max drawdown of -10.11% warrants monitoring. Clients should be advised of equity concentration risk.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4663440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ASSET ALLOCATION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8079" y="4892040"/>
            <a:ext cx="3072384" cy="1645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570463" y="4892040"/>
            <a:ext cx="877824" cy="164592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448288" y="4892040"/>
            <a:ext cx="438912" cy="164592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498079" y="5157216"/>
            <a:ext cx="109728" cy="10972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62671" y="512064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</a:rPr>
              <a:t>Equity  70%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15400" y="5157216"/>
            <a:ext cx="109728" cy="10972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512064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</a:rPr>
              <a:t>Bond  20%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332719" y="5157216"/>
            <a:ext cx="109728" cy="109728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97311" y="512064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</a:rPr>
              <a:t>Alternatives  10%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79" y="5468112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ESG INTEGRATION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98079" y="5696712"/>
            <a:ext cx="4389120" cy="128016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498079" y="5696712"/>
            <a:ext cx="2984601" cy="128016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79" y="5852159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Score: 68 / 100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5E5A"/>
                </a:solidFill>
              </a:rPr>
              <a:t>Allianz Global Investors Asia Pacific Ltd. · Hong Kong  |  For professional and institutional investors only. Not for retail distribution.  |  As at April 2026  |  Past performance is not indicative of future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