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5D4F4"/>
                </a:solidFill>
              </a:rPr>
              <a:t>AllianzGI Income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5B7EB"/>
                </a:solidFill>
              </a:rPr>
              <a:t>Balanced · Asia-Pacific · Multi-Asset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201168"/>
            <a:ext cx="2286000" cy="3200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201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5D4F4"/>
                </a:solidFill>
              </a:rPr>
              <a:t>Composite score: 73 /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52.73%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SHARPE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1.74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MAX DRAWDOWN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24B4A"/>
                </a:solidFill>
              </a:rPr>
              <a:t>-17.36%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ESG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D4F4"/>
                </a:solidFill>
              </a:rPr>
              <a:t>78 /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6032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KEY HIGHLIGHTS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26079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834639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Strong 1Y return of 52.73% reflects equity-led positioning, outperforming a typical 60/40 benchmark.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73551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182111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Equity overweight (55%) has been the primary return driver, benefiting from global market recovery.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21023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529583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10% alternatives sleeve provides tail-risk mitigation and low-correlation diversification.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68496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877056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ESG score of 78 reflects integration of sustainability factors, above median for growth-oriented peers.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361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INVESTMENT RATIONALE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636007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The fund targets long-term capital growth via dynamic allocation across global equities, investment-grade bonds, and liquid alternatives. Its growth tilt suits investors with a 5+ year horizon. The current macro backdrop — resilient global growth and AI-driven earnings expansion — favours the fund's 55% equity positioning, while the 35% bond sleeve acts as a duration buffer.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5603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RISK 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83463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28712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VOLATILITY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3054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7517"/>
                </a:solidFill>
              </a:rPr>
              <a:t>Moderate-high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19" y="283463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59" y="28712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MAX DRAWDOWN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59" y="3054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4B4A"/>
                </a:solidFill>
              </a:rPr>
              <a:t>-17.36%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42899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19" y="346557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SHARPE 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19" y="364845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7517"/>
                </a:solidFill>
              </a:rPr>
              <a:t>1.74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19" y="342899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59" y="346557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SORTINO 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59" y="364845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</a:rPr>
              <a:t>2.14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069079"/>
            <a:ext cx="4389120" cy="4572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19" y="4105655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A7517"/>
                </a:solidFill>
              </a:rPr>
              <a:t>Risk note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19" y="4270247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3806"/>
                </a:solidFill>
              </a:rPr>
              <a:t>Max drawdown of -17.36% warrants monitoring. Clients should be advised of equity concentration risk.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66344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ASSET ALLOCATION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4892040"/>
            <a:ext cx="2414016" cy="1645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12096" y="4892040"/>
            <a:ext cx="1536192" cy="16459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48288" y="4892040"/>
            <a:ext cx="438912" cy="164592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887200" y="4892040"/>
            <a:ext cx="438912" cy="16459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98079" y="5157216"/>
            <a:ext cx="109728" cy="10972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62671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Equity  55%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5157216"/>
            <a:ext cx="109728" cy="10972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79992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Bond  35%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32719" y="5157216"/>
            <a:ext cx="109728" cy="10972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97311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Cash  10%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750040" y="5157216"/>
            <a:ext cx="109728" cy="10972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914632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Alternatives  10%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79" y="546811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ESG INTEGRATION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79" y="5696712"/>
            <a:ext cx="4389120" cy="128016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98079" y="5696712"/>
            <a:ext cx="3423513" cy="12801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98079" y="585215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Score: 78 / 100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5E5A"/>
                </a:solidFill>
              </a:rPr>
              <a:t>Allianz Global Investors Asia Pacific Ltd. · Hong Kong  |  For professional and institutional investors only. Not for retail distribution.  |  As at April 2026  |  Past performance is not indicative of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