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5D4F4"/>
                </a:solidFill>
              </a:rPr>
              <a:t>AllianzGI Multi Asset Stab.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5B7EB"/>
                </a:solidFill>
              </a:rPr>
              <a:t>Defensive · Global · Multi-Asset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5D4F4"/>
                </a:solidFill>
              </a:rPr>
              <a:t>Composite score: 78 /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A7517"/>
                </a:solidFill>
              </a:rPr>
              <a:t>3.53%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SHARPE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0.97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MAX DRAWDOWN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-2.44%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ESG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D4F4"/>
                </a:solidFill>
              </a:rPr>
              <a:t>85 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603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KEY HIGHLIGHTS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26079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83463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Strong 1Y return of 3.53% reflects equity-led positioning, outperforming a typical 60/40 benchmark.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73551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18211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Equity overweight (30%) has been the primary return driver, benefiting from global market recovery.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21023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529583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15% alternatives sleeve provides tail-risk mitigation and low-correlation diversification.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68496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87705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ESG score of 85 reflects integration of sustainability factors, above median for growth-oriented peers.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61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INVESTMENT RATIONALE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36007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The fund targets long-term capital growth via dynamic allocation across global equities, investment-grade bonds, and liquid alternatives. Its growth tilt suits investors with a 5+ year horizon. The current macro backdrop — resilient global growth and AI-driven earnings expansion — favours the fund's 30% equity positioning, while the 55% bond sleeve acts as a duration buffer.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5603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RISK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VOLATILITY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Moderate-high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MAX DRAWDOWN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B4A"/>
                </a:solidFill>
              </a:rPr>
              <a:t>-2.44%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1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SHARPE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0.97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1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5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SORTINO 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5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1.35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069079"/>
            <a:ext cx="438912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4105655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A7517"/>
                </a:solidFill>
              </a:rPr>
              <a:t>Risk 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4270247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3806"/>
                </a:solidFill>
              </a:rPr>
              <a:t>Max drawdown of -2.44% warrants monitoring. Clients should be advised of equity concentration risk.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6634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ASSET ALLOCATION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4892040"/>
            <a:ext cx="1316736" cy="1645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14815" y="4892040"/>
            <a:ext cx="2414016" cy="16459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228832" y="4892040"/>
            <a:ext cx="658368" cy="16459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98079" y="5157216"/>
            <a:ext cx="109728" cy="10972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6267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Equity  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5157216"/>
            <a:ext cx="109728" cy="10972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Bond  55%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19" y="5157216"/>
            <a:ext cx="109728" cy="10972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731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Alternatives  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46811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ESG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5696712"/>
            <a:ext cx="4389120" cy="128016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79" y="5696712"/>
            <a:ext cx="3730752" cy="12801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85215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Score: 85 / 100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5E5A"/>
                </a:solidFill>
              </a:rPr>
              <a:t>Allianz Global Investors Asia Pacific Ltd. · Hong Kong  |  For professional and institutional investors only. Not for retail distribution.  |  As at April 2026  | 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