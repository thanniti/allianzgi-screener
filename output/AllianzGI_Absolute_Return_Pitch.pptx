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377440"/>
          </a:xfrm>
          <a:prstGeom prst="rect">
            <a:avLst/>
          </a:prstGeom>
          <a:solidFill>
            <a:srgbClr val="042C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B5D4F4"/>
                </a:solidFill>
              </a:rPr>
              <a:t>AllianzGI Absolute Return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594360"/>
            <a:ext cx="7315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85B7EB"/>
                </a:solidFill>
              </a:rPr>
              <a:t>Absolute Return · Global · Multi-Asset</a:t>
            </a:r>
          </a:p>
        </p:txBody>
      </p:sp>
      <p:sp>
        <p:nvSpPr>
          <p:cNvPr id="5" name="Rectangle 4"/>
          <p:cNvSpPr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solidFill>
            <a:srgbClr val="185FA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0" y="201168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1">
                <a:solidFill>
                  <a:srgbClr val="B5D4F4"/>
                </a:solidFill>
              </a:rPr>
              <a:t>Composite score: 91 / 100</a:t>
            </a:r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6576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1Y RETURN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A7517"/>
                </a:solidFill>
              </a:rPr>
              <a:t>4.06%</a:t>
            </a:r>
          </a:p>
        </p:txBody>
      </p:sp>
      <p:sp>
        <p:nvSpPr>
          <p:cNvPr id="10" name="Rectangle 9"/>
          <p:cNvSpPr/>
          <p:nvPr/>
        </p:nvSpPr>
        <p:spPr>
          <a:xfrm>
            <a:off x="310896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SHARPE RATIO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5.74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MAX DRAWDOWN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03504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1D9E75"/>
                </a:solidFill>
              </a:rPr>
              <a:t>-0.32%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778240" y="1005840"/>
            <a:ext cx="2743200" cy="1005840"/>
          </a:xfrm>
          <a:prstGeom prst="rect">
            <a:avLst/>
          </a:prstGeom>
          <a:solidFill>
            <a:srgbClr val="0C447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0" y="1078992"/>
            <a:ext cx="25603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85B7EB"/>
                </a:solidFill>
              </a:rPr>
              <a:t>ESG SCORE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69680" y="13258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B5D4F4"/>
                </a:solidFill>
              </a:rPr>
              <a:t>71 / 100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" y="2560320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KEY HIGHLIGHTS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274320" y="2926079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11479" y="2834639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Strong 1Y return of 4.06% reflects equity-led positioning, outperforming a typical 60/40 benchmark.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74320" y="3273551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79" y="3182111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Equity overweight (20%) has been the primary return driver, benefiting from global market recovery.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74320" y="3621023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11479" y="3529583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40% alternatives sleeve provides tail-risk mitigation and low-correlation diversification.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274320" y="3968496"/>
            <a:ext cx="64008" cy="6400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79" y="3877056"/>
            <a:ext cx="66751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1A1A1A"/>
                </a:solidFill>
              </a:rPr>
              <a:t>ESG score of 71 reflects integration of sustainability factors, above median for growth-oriented peers.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74320" y="4361688"/>
            <a:ext cx="68580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INVESTMENT RATIONALE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4320" y="4636007"/>
            <a:ext cx="68580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The fund targets long-term capital growth via dynamic allocation across global equities, investment-grade bonds, and liquid alternatives. Its growth tilt suits investors with a 5+ year horizon. The current macro backdrop — resilient global growth and AI-driven earnings expansion — favours the fund's 20% equity positioning, while the 40% bond sleeve acts as a duration buffer.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98079" y="2560320"/>
            <a:ext cx="438912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RISK PROFILE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49807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58951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VOLATILITY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8951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Moderate-high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9646919" y="283463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738359" y="287121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MAX DRAWDOWN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738359" y="3054096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E24B4A"/>
                </a:solidFill>
              </a:rPr>
              <a:t>-0.32%</a:t>
            </a:r>
          </a:p>
        </p:txBody>
      </p:sp>
      <p:sp>
        <p:nvSpPr>
          <p:cNvPr id="37" name="Rectangle 36"/>
          <p:cNvSpPr/>
          <p:nvPr/>
        </p:nvSpPr>
        <p:spPr>
          <a:xfrm>
            <a:off x="749807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1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SHARPE RATIO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58951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BA7517"/>
                </a:solidFill>
              </a:rPr>
              <a:t>5.74</a:t>
            </a:r>
          </a:p>
        </p:txBody>
      </p:sp>
      <p:sp>
        <p:nvSpPr>
          <p:cNvPr id="40" name="Rectangle 39"/>
          <p:cNvSpPr/>
          <p:nvPr/>
        </p:nvSpPr>
        <p:spPr>
          <a:xfrm>
            <a:off x="9646919" y="3428999"/>
            <a:ext cx="2011680" cy="502920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738359" y="3465575"/>
            <a:ext cx="18288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>
                <a:solidFill>
                  <a:srgbClr val="5F5E5A"/>
                </a:solidFill>
              </a:rPr>
              <a:t>SORTINO EST.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738359" y="3648455"/>
            <a:ext cx="1828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>
                <a:solidFill>
                  <a:srgbClr val="1D9E75"/>
                </a:solidFill>
              </a:rPr>
              <a:t>5.35</a:t>
            </a:r>
          </a:p>
        </p:txBody>
      </p:sp>
      <p:sp>
        <p:nvSpPr>
          <p:cNvPr id="43" name="Rectangle 42"/>
          <p:cNvSpPr/>
          <p:nvPr/>
        </p:nvSpPr>
        <p:spPr>
          <a:xfrm>
            <a:off x="7498079" y="4069079"/>
            <a:ext cx="4389120" cy="457200"/>
          </a:xfrm>
          <a:prstGeom prst="rect">
            <a:avLst/>
          </a:prstGeom>
          <a:solidFill>
            <a:srgbClr val="FAEE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19" y="4105655"/>
            <a:ext cx="42062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BA7517"/>
                </a:solidFill>
              </a:rPr>
              <a:t>Risk note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589519" y="4270247"/>
            <a:ext cx="42062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633806"/>
                </a:solidFill>
              </a:rPr>
              <a:t>Max drawdown of -0.32% warrants monitoring. Clients should be advised of equity concentration risk.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498079" y="4663440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ASSET ALLOCATION</a:t>
            </a:r>
          </a:p>
        </p:txBody>
      </p:sp>
      <p:sp>
        <p:nvSpPr>
          <p:cNvPr id="47" name="Rectangle 46"/>
          <p:cNvSpPr/>
          <p:nvPr/>
        </p:nvSpPr>
        <p:spPr>
          <a:xfrm>
            <a:off x="7498079" y="4892040"/>
            <a:ext cx="877824" cy="164592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8375904" y="4892040"/>
            <a:ext cx="1755648" cy="164592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10131552" y="4892040"/>
            <a:ext cx="1755648" cy="164592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498079" y="5157216"/>
            <a:ext cx="109728" cy="109728"/>
          </a:xfrm>
          <a:prstGeom prst="rect">
            <a:avLst/>
          </a:prstGeom>
          <a:solidFill>
            <a:srgbClr val="378A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766267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Equity  20%</a:t>
            </a:r>
          </a:p>
        </p:txBody>
      </p:sp>
      <p:sp>
        <p:nvSpPr>
          <p:cNvPr id="52" name="Rectangle 51"/>
          <p:cNvSpPr/>
          <p:nvPr/>
        </p:nvSpPr>
        <p:spPr>
          <a:xfrm>
            <a:off x="8915400" y="5157216"/>
            <a:ext cx="109728" cy="109728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079992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Bond  40%</a:t>
            </a:r>
          </a:p>
        </p:txBody>
      </p:sp>
      <p:sp>
        <p:nvSpPr>
          <p:cNvPr id="54" name="Rectangle 53"/>
          <p:cNvSpPr/>
          <p:nvPr/>
        </p:nvSpPr>
        <p:spPr>
          <a:xfrm>
            <a:off x="10332719" y="5157216"/>
            <a:ext cx="109728" cy="109728"/>
          </a:xfrm>
          <a:prstGeom prst="rect">
            <a:avLst/>
          </a:prstGeom>
          <a:solidFill>
            <a:srgbClr val="D85A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10497311" y="5120640"/>
            <a:ext cx="11887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5F5E5A"/>
                </a:solidFill>
              </a:rPr>
              <a:t>Alternatives  40%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7498079" y="5468112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ESG INTEGRATION</a:t>
            </a:r>
          </a:p>
        </p:txBody>
      </p:sp>
      <p:sp>
        <p:nvSpPr>
          <p:cNvPr id="57" name="Rectangle 56"/>
          <p:cNvSpPr/>
          <p:nvPr/>
        </p:nvSpPr>
        <p:spPr>
          <a:xfrm>
            <a:off x="7498079" y="5696712"/>
            <a:ext cx="4389120" cy="128016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7498079" y="5696712"/>
            <a:ext cx="3116275" cy="128016"/>
          </a:xfrm>
          <a:prstGeom prst="rect">
            <a:avLst/>
          </a:prstGeom>
          <a:solidFill>
            <a:srgbClr val="1D9E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498079" y="5852159"/>
            <a:ext cx="43891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F5E5A"/>
                </a:solidFill>
              </a:rPr>
              <a:t>Score: 71 / 100</a:t>
            </a:r>
          </a:p>
        </p:txBody>
      </p:sp>
      <p:sp>
        <p:nvSpPr>
          <p:cNvPr id="60" name="Rectangle 59"/>
          <p:cNvSpPr/>
          <p:nvPr/>
        </p:nvSpPr>
        <p:spPr>
          <a:xfrm>
            <a:off x="0" y="6492240"/>
            <a:ext cx="12188952" cy="18288"/>
          </a:xfrm>
          <a:prstGeom prst="rect">
            <a:avLst/>
          </a:prstGeom>
          <a:solidFill>
            <a:srgbClr val="F1EF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274320" y="6537960"/>
            <a:ext cx="11612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>
                <a:solidFill>
                  <a:srgbClr val="5F5E5A"/>
                </a:solidFill>
              </a:rPr>
              <a:t>Allianz Global Investors Asia Pacific Ltd. · Hong Kong  |  For professional and institutional investors only. Not for retail distribution.  |  As at April 2026  |  Past performance is not indicative of future results.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